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6" r:id="rId6"/>
    <p:sldId id="276" r:id="rId7"/>
    <p:sldId id="289" r:id="rId8"/>
    <p:sldId id="277" r:id="rId9"/>
    <p:sldId id="292" r:id="rId10"/>
    <p:sldId id="279" r:id="rId11"/>
    <p:sldId id="290" r:id="rId12"/>
    <p:sldId id="296" r:id="rId13"/>
    <p:sldId id="291" r:id="rId14"/>
    <p:sldId id="297" r:id="rId15"/>
    <p:sldId id="298" r:id="rId16"/>
    <p:sldId id="299" r:id="rId17"/>
    <p:sldId id="300" r:id="rId18"/>
    <p:sldId id="301" r:id="rId19"/>
    <p:sldId id="303" r:id="rId20"/>
    <p:sldId id="295" r:id="rId21"/>
  </p:sldIdLst>
  <p:sldSz cx="12192000" cy="6858000"/>
  <p:notesSz cx="6858000" cy="9144000"/>
  <p:embeddedFontLst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632"/>
    <a:srgbClr val="0A84FF"/>
    <a:srgbClr val="25C2D9"/>
    <a:srgbClr val="252D35"/>
    <a:srgbClr val="30394C"/>
    <a:srgbClr val="6C81B1"/>
    <a:srgbClr val="57678B"/>
    <a:srgbClr val="6CB5FF"/>
    <a:srgbClr val="302F31"/>
    <a:srgbClr val="379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0"/>
    <p:restoredTop sz="94658"/>
  </p:normalViewPr>
  <p:slideViewPr>
    <p:cSldViewPr snapToGrid="0" showGuides="1">
      <p:cViewPr varScale="1">
        <p:scale>
          <a:sx n="89" d="100"/>
          <a:sy n="89" d="100"/>
        </p:scale>
        <p:origin x="168" y="8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开场：今天汇报专业群 AI 工作站的整体框架与建设主线，重点讲清一个助手、一本账、一条主线。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目录页：四个部分，先看总体框架，再走主线六个节点，然后是痛点和落地成果。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关键一页：左边放总览截图，右边讲三位一体。强调助手、台账、主线三者不是并列功能，而是同一条链。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四个模块卡片，按实际模块改标题和说明，每个模块一句话说清职责与产出。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主线中间三节点：进度判断。对照任务与台账识别偏差，重点是判断口径要统一。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88395"/>
              </a:buClr>
              <a:buSzPts val="1800"/>
              <a:buNone/>
              <a:defRPr sz="1800">
                <a:solidFill>
                  <a:srgbClr val="78839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500"/>
              <a:buNone/>
              <a:defRPr sz="1500">
                <a:solidFill>
                  <a:srgbClr val="78839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400"/>
              <a:buNone/>
              <a:defRPr sz="1400">
                <a:solidFill>
                  <a:srgbClr val="78839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-239398" y="-1280369"/>
            <a:ext cx="12667766" cy="9418738"/>
            <a:chOff x="-239398" y="-1280369"/>
            <a:chExt cx="12667766" cy="9418738"/>
          </a:xfrm>
        </p:grpSpPr>
        <p:cxnSp>
          <p:nvCxnSpPr>
            <p:cNvPr id="33" name="直线连接符 32"/>
            <p:cNvCxnSpPr/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/>
            <p:cNvCxnSpPr/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/>
            <p:cNvCxnSpPr/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/>
            <p:cNvCxnSpPr/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/>
            <p:cNvCxnSpPr/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模板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</p:grpSp>
      <p:sp>
        <p:nvSpPr>
          <p:cNvPr id="6" name="AutoShape 2"/>
          <p:cNvSpPr/>
          <p:nvPr/>
        </p:nvSpPr>
        <p:spPr>
          <a:xfrm>
            <a:off x="524799" y="3723169"/>
            <a:ext cx="11208481" cy="17953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zh-CN" altLang="en-US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专业群 AI 工作站 / 汇报模板</a:t>
            </a: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  <a:p>
            <a:pPr>
              <a:lnSpc>
                <a:spcPts val="7000"/>
              </a:lnSpc>
              <a:defRPr/>
            </a:pP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ChillYunmoGothicBold"/>
            </a:endParaRPr>
          </a:p>
        </p:txBody>
      </p:sp>
      <p:sp>
        <p:nvSpPr>
          <p:cNvPr id="7" name="AutoShape 2"/>
          <p:cNvSpPr/>
          <p:nvPr/>
        </p:nvSpPr>
        <p:spPr>
          <a:xfrm>
            <a:off x="524799" y="5532387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SLIDE</a:t>
            </a:r>
            <a:endParaRPr lang="en-US" altLang="zh-CN" sz="6200" dirty="0">
              <a:solidFill>
                <a:srgbClr val="202632"/>
              </a:solidFill>
              <a:latin typeface="MiSans VF ExtraLight" pitchFamily="2" charset="-122"/>
              <a:ea typeface="MiSans VF ExtraLight" pitchFamily="2" charset="-122"/>
              <a:cs typeface="MiSans VF ExtraLight" pitchFamily="2" charset="-122"/>
              <a:sym typeface="ChillYunmoGothicBold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6296904" y="2458343"/>
            <a:ext cx="5437675" cy="585457"/>
            <a:chOff x="6296904" y="2086306"/>
            <a:chExt cx="5437675" cy="585457"/>
          </a:xfrm>
        </p:grpSpPr>
        <p:sp>
          <p:nvSpPr>
            <p:cNvPr id="9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一张图看懂工作站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sp>
          <p:nvSpPr>
            <p:cNvPr id="10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01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cxnSp>
          <p:nvCxnSpPr>
            <p:cNvPr id="17" name="直线连接符 16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6296904" y="3345341"/>
            <a:ext cx="5437675" cy="585457"/>
            <a:chOff x="6296904" y="2086306"/>
            <a:chExt cx="5437675" cy="585457"/>
          </a:xfrm>
        </p:grpSpPr>
        <p:sp>
          <p:nvSpPr>
            <p:cNvPr id="20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建设主线与六大节点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sp>
          <p:nvSpPr>
            <p:cNvPr id="21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02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cxnSp>
          <p:nvCxnSpPr>
            <p:cNvPr id="23" name="直线连接符 22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6296904" y="4232339"/>
            <a:ext cx="5437675" cy="585457"/>
            <a:chOff x="6296904" y="2086306"/>
            <a:chExt cx="5437675" cy="585457"/>
          </a:xfrm>
        </p:grpSpPr>
        <p:sp>
          <p:nvSpPr>
            <p:cNvPr id="29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痛点与应对思路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sp>
          <p:nvSpPr>
            <p:cNvPr id="30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03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cxnSp>
          <p:nvCxnSpPr>
            <p:cNvPr id="32" name="直线连接符 31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6296904" y="5119339"/>
            <a:ext cx="5437675" cy="585457"/>
            <a:chOff x="6296904" y="2086306"/>
            <a:chExt cx="5437675" cy="585457"/>
          </a:xfrm>
        </p:grpSpPr>
        <p:sp>
          <p:nvSpPr>
            <p:cNvPr id="38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落地与成果呈现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sp>
          <p:nvSpPr>
            <p:cNvPr id="39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04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cxnSp>
          <p:nvCxnSpPr>
            <p:cNvPr id="41" name="直线连接符 40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OUTLINE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6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296904" y="1571345"/>
            <a:ext cx="5437675" cy="585457"/>
            <a:chOff x="6296904" y="2086306"/>
            <a:chExt cx="5437675" cy="585457"/>
          </a:xfrm>
        </p:grpSpPr>
        <p:sp>
          <p:nvSpPr>
            <p:cNvPr id="47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模板说明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sp>
          <p:nvSpPr>
            <p:cNvPr id="48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00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cxnSp>
          <p:nvCxnSpPr>
            <p:cNvPr id="49" name="直线连接符 48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AutoShape 2"/>
          <p:cNvSpPr/>
          <p:nvPr/>
        </p:nvSpPr>
        <p:spPr>
          <a:xfrm>
            <a:off x="524800" y="2858627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模板目录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ChillYunmoGothicBold"/>
            </a:endParaRPr>
          </a:p>
        </p:txBody>
      </p:sp>
      <p:sp>
        <p:nvSpPr>
          <p:cNvPr id="8" name="AutoShape 2"/>
          <p:cNvSpPr/>
          <p:nvPr/>
        </p:nvSpPr>
        <p:spPr>
          <a:xfrm>
            <a:off x="524800" y="3474180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CONTENTS</a:t>
            </a:r>
            <a:endParaRPr lang="en-US" altLang="zh-CN" sz="4000" b="1" i="1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239398" y="-1280369"/>
            <a:ext cx="12667766" cy="9418738"/>
            <a:chOff x="-239398" y="-1280369"/>
            <a:chExt cx="12667766" cy="9418738"/>
          </a:xfrm>
        </p:grpSpPr>
        <p:cxnSp>
          <p:nvCxnSpPr>
            <p:cNvPr id="12" name="直线连接符 11"/>
            <p:cNvCxnSpPr/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/>
            <p:cNvCxnSpPr/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/>
            <p:cNvCxnSpPr/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/>
            <p:cNvCxnSpPr/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/>
            <p:cNvCxnSpPr/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/>
            <p:cNvCxnSpPr/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/>
            <p:cNvCxnSpPr/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OVERVIEW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6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EDF7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EDF7FF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6162083" y="2858627"/>
            <a:ext cx="5115515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一张图 / 看懂工作站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  <a:p>
            <a:pPr>
              <a:defRPr/>
            </a:pP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8" name="AutoShape 2"/>
          <p:cNvSpPr/>
          <p:nvPr/>
        </p:nvSpPr>
        <p:spPr>
          <a:xfrm>
            <a:off x="524800" y="2858627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01</a:t>
            </a:r>
            <a:endParaRPr lang="en-US" altLang="zh-CN" sz="4000" b="1" i="1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9" name="AutoShape 2"/>
          <p:cNvSpPr/>
          <p:nvPr/>
        </p:nvSpPr>
        <p:spPr>
          <a:xfrm>
            <a:off x="524800" y="3474180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SECTION</a:t>
            </a:r>
            <a:endParaRPr lang="en-US" altLang="zh-CN" sz="4000" b="1" i="1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OVERVIEW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OVERVIEW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81058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总体框架：三位一体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一句话说明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798" y="3211552"/>
            <a:ext cx="5115516" cy="1754326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一位助手 · 一本建设账 · 一条工作主线。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左图替换为你截图：把页面截图拖到此处，覆盖默认示意图即可，位置与比例已留好。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右侧三栏可分别写助手定位、台账口径、主线阶段，也可按实际改标题。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" r="3111"/>
          <a:stretch>
            <a:fillRect/>
          </a:stretch>
        </p:blipFill>
        <p:spPr>
          <a:xfrm>
            <a:off x="6387950" y="2432835"/>
            <a:ext cx="5278739" cy="316724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323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OVERVIEW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defRPr/>
            </a:pPr>
            <a:r>
              <a:rPr lang="zh-CN" altLang="en-US" sz="296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核心构成与一句话说明</a:t>
            </a:r>
            <a:endParaRPr lang="en-US" altLang="zh-CN" sz="296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64518" y="2302349"/>
            <a:ext cx="3529043" cy="1921967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204241" y="2302349"/>
            <a:ext cx="3529043" cy="1921967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24796" y="4520102"/>
            <a:ext cx="3319001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专业群助手定位：承接日常问答、资料检索与任务执行。</a:t>
            </a:r>
            <a:endParaRPr lang="en-US" altLang="zh-CN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 marL="171450" indent="-171450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在对话框中直接提问，或调用已配置的工具完成操作。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KEY MODULES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96" y="2302349"/>
            <a:ext cx="3529043" cy="1921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734837" y="3077508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一位助手</a:t>
            </a:r>
            <a:endParaRPr lang="en-US" altLang="zh-CN" sz="2000" u="none" strike="noStrike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650429" y="3077508"/>
            <a:ext cx="3030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一本建设账</a:t>
            </a:r>
            <a:endParaRPr lang="en-US" altLang="zh-CN" sz="2000" u="none" strike="noStrike" dirty="0">
              <a:solidFill>
                <a:schemeClr val="bg1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512233" y="3077508"/>
            <a:ext cx="2944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一条主线</a:t>
            </a:r>
            <a:endParaRPr lang="en-US" altLang="zh-CN" sz="2000" u="none" strike="noStrike" dirty="0">
              <a:solidFill>
                <a:schemeClr val="bg1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364518" y="4520102"/>
            <a:ext cx="3286508" cy="707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建设台账口径：统一记录任务、材料、进度与问题。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 marL="171450" indent="-171450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每条数据可追溯来源，便于随时复盘与导出。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04241" y="4520102"/>
            <a:ext cx="325401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工作主线：按阶段推进建设，逐节点留痕、逐节点判断。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OVERVIEW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MODULES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39588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四大模块卡片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01" y="2161017"/>
            <a:ext cx="2770674" cy="3821329"/>
          </a:xfrm>
          <a:prstGeom prst="rect">
            <a:avLst/>
          </a:prstGeom>
          <a:solidFill>
            <a:srgbClr val="25C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5C2D9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50006" y="2161017"/>
            <a:ext cx="2770674" cy="3821329"/>
          </a:xfrm>
          <a:prstGeom prst="rect">
            <a:avLst/>
          </a:prstGeom>
          <a:solidFill>
            <a:srgbClr val="3153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524796" y="2161017"/>
            <a:ext cx="2770674" cy="3821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8962610" y="2161017"/>
            <a:ext cx="2770674" cy="3821329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02632"/>
              </a:solidFill>
            </a:endParaRPr>
          </a:p>
        </p:txBody>
      </p:sp>
      <p:sp>
        <p:nvSpPr>
          <p:cNvPr id="22" name="AutoShape 2"/>
          <p:cNvSpPr/>
          <p:nvPr/>
        </p:nvSpPr>
        <p:spPr>
          <a:xfrm>
            <a:off x="690202" y="2295779"/>
            <a:ext cx="2432106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01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23" name="AutoShape 5"/>
          <p:cNvSpPr/>
          <p:nvPr/>
        </p:nvSpPr>
        <p:spPr>
          <a:xfrm>
            <a:off x="694080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/>
              </a:rPr>
              <a:t>模块名称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4080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一句话说明该模块的职责与产出，不超过三行，便于快速扫读。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6" name="AutoShape 5"/>
          <p:cNvSpPr/>
          <p:nvPr/>
        </p:nvSpPr>
        <p:spPr>
          <a:xfrm>
            <a:off x="3509199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/>
              </a:rPr>
              <a:t>模块名称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509199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一句话说明该模块的职责与产出，不超过三行，便于快速扫读。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9" name="AutoShape 2"/>
          <p:cNvSpPr/>
          <p:nvPr/>
        </p:nvSpPr>
        <p:spPr>
          <a:xfrm>
            <a:off x="3509199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02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1" name="AutoShape 5"/>
          <p:cNvSpPr/>
          <p:nvPr/>
        </p:nvSpPr>
        <p:spPr>
          <a:xfrm>
            <a:off x="6316793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/>
              </a:rPr>
              <a:t>模块名称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316793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一句话说明该模块的职责与产出，不超过三行，便于快速扫读。</a:t>
            </a:r>
            <a:endParaRPr lang="zh-CN" altLang="en-US" sz="1200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33" name="AutoShape 2"/>
          <p:cNvSpPr/>
          <p:nvPr/>
        </p:nvSpPr>
        <p:spPr>
          <a:xfrm>
            <a:off x="6316793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03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4" name="AutoShape 5"/>
          <p:cNvSpPr/>
          <p:nvPr/>
        </p:nvSpPr>
        <p:spPr>
          <a:xfrm>
            <a:off x="9137266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/>
              </a:rPr>
              <a:t>模块名称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137266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一句话说明该模块的职责与产出，不超过三行，便于快速扫读。</a:t>
            </a:r>
            <a:endParaRPr lang="zh-CN" altLang="en-US" sz="1200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36" name="AutoShape 2"/>
          <p:cNvSpPr/>
          <p:nvPr/>
        </p:nvSpPr>
        <p:spPr>
          <a:xfrm>
            <a:off x="9137266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04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MAIN LINE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一条工作主线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WORKFLOW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1" b="22291"/>
          <a:stretch>
            <a:fillRect/>
          </a:stretch>
        </p:blipFill>
        <p:spPr>
          <a:xfrm>
            <a:off x="4365276" y="2302347"/>
            <a:ext cx="3468066" cy="19219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1" b="22291"/>
          <a:stretch>
            <a:fillRect/>
          </a:stretch>
        </p:blipFill>
        <p:spPr>
          <a:xfrm>
            <a:off x="8205756" y="2302347"/>
            <a:ext cx="3468066" cy="192196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1" b="22291"/>
          <a:stretch>
            <a:fillRect/>
          </a:stretch>
        </p:blipFill>
        <p:spPr>
          <a:xfrm>
            <a:off x="524796" y="2302347"/>
            <a:ext cx="3468066" cy="192196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4796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建设依据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4796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依据与标准，明确口径与要求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62505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年度任务</a:t>
            </a:r>
            <a:endParaRPr lang="zh-CN" altLang="en-US" sz="1600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62505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拆解到季度与责任人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00214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日常工作</a:t>
            </a:r>
            <a:endParaRPr lang="zh-CN" altLang="en-US" sz="1600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200214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按主线推进，台账实时留痕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PAIN POINTS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PAIN POINTS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痛点与应对思路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01 常见痛点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02 应对思路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798" y="3211552"/>
            <a:ext cx="5115516" cy="1754326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资料散：文件分散在多平台，查找与归档费时。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要求多：政策、标准、任务口径不一，理解成本高。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过程断：过程数据未留痕，复盘缺乏依据。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8694" y="3211552"/>
            <a:ext cx="5138506" cy="2277547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助手归集：统一入口检索与调用资料。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主线串联：把要求拆成节点，逐节点留痕。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节点预警：异常自动提示，问题闭环可追踪。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MAIN LINE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0A84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0A84FF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MAIN LINE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9" y="1206344"/>
            <a:ext cx="8491610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六大节点：进度判断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745218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24798" y="1947920"/>
            <a:ext cx="4063158" cy="36933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建设依据：政策、标准、任务清单，作为判断的参照系。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51685" y="3011016"/>
            <a:ext cx="4270228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年度任务：按季度拆解，明确责任人与交付物。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cxnSp>
        <p:nvCxnSpPr>
          <p:cNvPr id="18" name="直线连接符 17"/>
          <p:cNvCxnSpPr/>
          <p:nvPr/>
        </p:nvCxnSpPr>
        <p:spPr>
          <a:xfrm>
            <a:off x="524799" y="3830812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551685" y="4096610"/>
            <a:ext cx="4270228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日常工作：执行留痕，材料与过程数据进入台账。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cxnSp>
        <p:nvCxnSpPr>
          <p:cNvPr id="22" name="直线连接符 21"/>
          <p:cNvCxnSpPr/>
          <p:nvPr/>
        </p:nvCxnSpPr>
        <p:spPr>
          <a:xfrm>
            <a:off x="524799" y="4916406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551685" y="5182204"/>
            <a:ext cx="4270228" cy="36933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进度判断：对照任务与台账，识别偏差与风险。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cxnSp>
        <p:nvCxnSpPr>
          <p:cNvPr id="24" name="直线连接符 23"/>
          <p:cNvCxnSpPr/>
          <p:nvPr/>
        </p:nvCxnSpPr>
        <p:spPr>
          <a:xfrm>
            <a:off x="524799" y="6002002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utoShape 5"/>
          <p:cNvSpPr/>
          <p:nvPr/>
        </p:nvSpPr>
        <p:spPr>
          <a:xfrm>
            <a:off x="524799" y="3009744"/>
            <a:ext cx="339950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节点一</a:t>
            </a:r>
            <a:endParaRPr lang="en-US" altLang="zh-CN" sz="40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6" name="AutoShape 5"/>
          <p:cNvSpPr/>
          <p:nvPr/>
        </p:nvSpPr>
        <p:spPr>
          <a:xfrm>
            <a:off x="524799" y="4089244"/>
            <a:ext cx="339950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节点二</a:t>
            </a:r>
            <a:endParaRPr lang="en-US" altLang="zh-CN" sz="40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7" name="AutoShape 5"/>
          <p:cNvSpPr/>
          <p:nvPr/>
        </p:nvSpPr>
        <p:spPr>
          <a:xfrm>
            <a:off x="524799" y="5168744"/>
            <a:ext cx="339950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节点三</a:t>
            </a:r>
            <a:endParaRPr lang="en-US" altLang="zh-CN" sz="40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MAIN LINE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MAIN LINE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05740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六大节点：问题与成果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14208" y="3519328"/>
            <a:ext cx="2788738" cy="107721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问题处理：记录问题、成因、处置动作与闭环时间，形成可追溯的问题台账。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4270690" y="2161018"/>
            <a:ext cx="0" cy="3724494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7998800" y="2161018"/>
            <a:ext cx="0" cy="3724494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740375" y="3519328"/>
            <a:ext cx="2788738" cy="141577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报告成果：按节点汇总材料与数据，自动生成阶段性报告与成果清单。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33128" y="3519328"/>
            <a:ext cx="2788738" cy="141577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复盘迭代：对照目标评估成效，沉淀经验与下阶段改进事项。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14213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问题处理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5" name="AutoShape 5"/>
          <p:cNvSpPr/>
          <p:nvPr/>
        </p:nvSpPr>
        <p:spPr>
          <a:xfrm>
            <a:off x="524797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04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6" name="AutoShape 5"/>
          <p:cNvSpPr/>
          <p:nvPr/>
        </p:nvSpPr>
        <p:spPr>
          <a:xfrm>
            <a:off x="4741657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报告成果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4752241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05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22" name="AutoShape 5"/>
          <p:cNvSpPr/>
          <p:nvPr/>
        </p:nvSpPr>
        <p:spPr>
          <a:xfrm>
            <a:off x="8633128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复盘迭代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23" name="AutoShape 5"/>
          <p:cNvSpPr/>
          <p:nvPr/>
        </p:nvSpPr>
        <p:spPr>
          <a:xfrm>
            <a:off x="8643712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06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95" y="0"/>
            <a:ext cx="119926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5" y="0"/>
            <a:ext cx="118192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925" y="0"/>
            <a:ext cx="113595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155" y="0"/>
            <a:ext cx="112350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-237883" y="-1280369"/>
            <a:ext cx="12667766" cy="9418738"/>
            <a:chOff x="-239398" y="-1280369"/>
            <a:chExt cx="12667766" cy="9418738"/>
          </a:xfrm>
        </p:grpSpPr>
        <p:cxnSp>
          <p:nvCxnSpPr>
            <p:cNvPr id="33" name="直线连接符 32"/>
            <p:cNvCxnSpPr/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/>
            <p:cNvCxnSpPr/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/>
            <p:cNvCxnSpPr/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/>
            <p:cNvCxnSpPr/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/>
            <p:cNvCxnSpPr/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END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</p:grpSp>
      <p:sp>
        <p:nvSpPr>
          <p:cNvPr id="6" name="AutoShape 2"/>
          <p:cNvSpPr/>
          <p:nvPr/>
        </p:nvSpPr>
        <p:spPr>
          <a:xfrm>
            <a:off x="524799" y="4620850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zh-CN" altLang="en-US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谢谢观看</a:t>
            </a: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7" name="AutoShape 2"/>
          <p:cNvSpPr/>
          <p:nvPr/>
        </p:nvSpPr>
        <p:spPr>
          <a:xfrm>
            <a:off x="524799" y="5532387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THANKS FOR WATCHING</a:t>
            </a:r>
            <a:endParaRPr lang="en-US" altLang="zh-CN" sz="62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1282</Words>
  <Application>WPS 表格</Application>
  <PresentationFormat>宽屏</PresentationFormat>
  <Paragraphs>261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47" baseType="lpstr">
      <vt:lpstr>Arial</vt:lpstr>
      <vt:lpstr>宋体</vt:lpstr>
      <vt:lpstr>Wingdings</vt:lpstr>
      <vt:lpstr>Arial</vt:lpstr>
      <vt:lpstr>MiSans VF Demibold</vt:lpstr>
      <vt:lpstr>苹方-简</vt:lpstr>
      <vt:lpstr>JetBrains Mono</vt:lpstr>
      <vt:lpstr>MiSans VF Bold</vt:lpstr>
      <vt:lpstr>ChillYunmoGothicBold</vt:lpstr>
      <vt:lpstr>Didot</vt:lpstr>
      <vt:lpstr>MiSans VF ExtraLight</vt:lpstr>
      <vt:lpstr>MiSans VF Light</vt:lpstr>
      <vt:lpstr>黑体</vt:lpstr>
      <vt:lpstr>微软雅黑</vt:lpstr>
      <vt:lpstr>汉仪旗黑</vt:lpstr>
      <vt:lpstr>宋体</vt:lpstr>
      <vt:lpstr>Arial Unicode MS</vt:lpstr>
      <vt:lpstr>汉仪书宋二KW</vt:lpstr>
      <vt:lpstr>Thonburi</vt:lpstr>
      <vt:lpstr>汉仪中黑KW</vt:lpstr>
      <vt:lpstr>ChillYunmoGothicBold</vt:lpstr>
      <vt:lpstr>Didot</vt:lpstr>
      <vt:lpstr>JetBrains Mono</vt:lpstr>
      <vt:lpstr>MiSans VF Bold</vt:lpstr>
      <vt:lpstr>MiSans VF Demibold</vt:lpstr>
      <vt:lpstr>MiSans VF ExtraLight</vt:lpstr>
      <vt:lpstr>MiSans VF Light</vt:lpstr>
      <vt:lpstr>黑体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T209833</dc:creator>
  <cp:lastModifiedBy>杜大同(菜鸟-地网运输技术部 剑笑)</cp:lastModifiedBy>
  <cp:revision>29</cp:revision>
  <dcterms:created xsi:type="dcterms:W3CDTF">2026-09-22T14:16:07Z</dcterms:created>
  <dcterms:modified xsi:type="dcterms:W3CDTF">2026-09-22T14:16:07Z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{"Label":"1","ContentProducer":"001191440300708461136T1WFUO","ProduceID":"3cfebe10a1b85ab3edfa05142887f8c3-PkVK","ReservedCode1":"{\"Type\":\" TC260PG\",\"Version\":1,\"Bindings\":[{\"Type\":\"soft\",\"AlgID\":\"sm3\",\"Value\":\"dff2f0b9d12b3ee14d6f4b4fd36968b4bbf3b33c93b10b255737fabd89652921\"},{\"Type\":\"hash\",\"AlgID\":\"sm3\",\"Value\":\"b558a8885076c2b6a6cbc9511be068b1d3a815f832241587c5fb150a6b94daf0\"}],\"PubSD\":[{\"Type\":\"DS\",\"AlgID\":\"sm2\",\"TBSData\":{\"Type\":\"Binding\",\"BType\":\"hash\"},\"Signature\":\"304502204640524f3df34bb0b0b447b74a9ea086da6be1b62524d3b219a2c9dfd0fb3f0c022100a39be1f07eb4e1645b88e4c483a215ef526eae95cde8007b2df749b715d805c7\"},{\"Type\":\"PubKey\",\"AlgID\":\"sm2\",\"KeyValue\":\"0407f79b28a17a752b3aae4305c98b48978213832729a2571850b1310b2bc9fe8fee039ccf25ebfeac27502414d9fcef792d777183c98893d226171c2f7a3289a2\"}],\"Extension\":{\"Timestamp\":1790077516,\"KeyVersion\":\"v1-TxLeOmf7bqU223\"}}","ContentPropagator":"001191440300708461136T1WFUO","PropagateID":"3cfebe10a1b85ab3edfa05142887f8c3-PkVK","ReservedCode2":"{\"Type\":\" TC260PG\",\"Version\":1,\"Bindings\":[{\"Type\":\"soft\",\"AlgID\":\"sm3\",\"Value\":\"dff2f0b9d12b3ee14d6f4b4fd36968b4bbf3b33c93b10b255737fabd89652921\"},{\"Type\":\"hash\",\"AlgID\":\"sm3\",\"Value\":\"b558a8885076c2b6a6cbc9511be068b1d3a815f832241587c5fb150a6b94daf0\"}],\"PubSD\":[{\"Type\":\"DS\",\"AlgID\":\"sm2\",\"TBSData\":{\"Type\":\"Binding\",\"BType\":\"hash\"},\"Signature\":\"3044021f77e453c19539226ca0720bc64a7f13cba74f0fed2cefbdc52353e9709f047502210086e43f76d36533e3d97236a4832bba249999dc64e33ab68d587ff6bce3f3b646\"},{\"Type\":\"PubKey\",\"AlgID\":\"sm2\",\"KeyValue\":\"0407f79b28a17a752b3aae4305c98b48978213832729a2571850b1310b2bc9fe8fee039ccf25ebfeac27502414d9fcef792d777183c98893d226171c2f7a3289a2\"}],\"Extension\":{\"Timestamp\":1790077516,\"KeyVersion\":\"v1-TxLeOmf7bqU223\"}}"}</vt:lpwstr>
  </property>
  <property fmtid="{D5CDD505-2E9C-101B-9397-08002B2CF9AE}" pid="3" name="ICV">
    <vt:lpwstr>AE0BD062522D7B7A4887B26A53C29420_42</vt:lpwstr>
  </property>
  <property fmtid="{D5CDD505-2E9C-101B-9397-08002B2CF9AE}" pid="4" name="KSOProductBuildVer">
    <vt:lpwstr>2052-12.1.21938.21938</vt:lpwstr>
  </property>
</Properties>
</file>